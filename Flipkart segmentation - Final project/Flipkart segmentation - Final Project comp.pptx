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9" r:id="rId3"/>
    <p:sldId id="258" r:id="rId4"/>
    <p:sldId id="259" r:id="rId5"/>
    <p:sldId id="271" r:id="rId6"/>
    <p:sldId id="260" r:id="rId7"/>
    <p:sldId id="261" r:id="rId8"/>
    <p:sldId id="273" r:id="rId9"/>
    <p:sldId id="262" r:id="rId10"/>
    <p:sldId id="263" r:id="rId11"/>
    <p:sldId id="272" r:id="rId12"/>
    <p:sldId id="264" r:id="rId13"/>
    <p:sldId id="266" r:id="rId14"/>
    <p:sldId id="270" r:id="rId15"/>
    <p:sldId id="268" r:id="rId16"/>
    <p:sldId id="25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E7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F599F6-241E-44C0-8259-BC0F33DB8F56}" type="datetimeFigureOut">
              <a:rPr lang="en-IN" smtClean="0"/>
              <a:t>16-04-2026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3B9E11-A102-4EA0-9783-58A0151BF890}" type="slidenum">
              <a:rPr lang="en-IN" smtClean="0"/>
              <a:t>‹#›</a:t>
            </a:fld>
            <a:endParaRPr lang="en-IN"/>
          </a:p>
        </p:txBody>
      </p:sp>
    </p:spTree>
    <p:extLst>
      <p:ext uri="{BB962C8B-B14F-4D97-AF65-F5344CB8AC3E}">
        <p14:creationId xmlns:p14="http://schemas.microsoft.com/office/powerpoint/2010/main" val="15479098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63EC5-5D1B-9D87-4BBF-7F1C8D856F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32B89A-BEAD-427D-876F-C85B672732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3E0F4C-81FF-C08A-B10F-DAEB28A7AFB0}"/>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5" name="Footer Placeholder 4">
            <a:extLst>
              <a:ext uri="{FF2B5EF4-FFF2-40B4-BE49-F238E27FC236}">
                <a16:creationId xmlns:a16="http://schemas.microsoft.com/office/drawing/2014/main" id="{70C59A16-B2F1-21DA-36CE-33DBA1D6C0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837DC7-F1F9-CCEC-ACFB-EC2EC113623A}"/>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116877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3B370-63F6-4E2B-CF20-D881C51DB7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D9D324-5751-E1CD-9311-0982C5DD52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BD8D42-FCE8-2F9C-204A-17D8EFE82113}"/>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5" name="Footer Placeholder 4">
            <a:extLst>
              <a:ext uri="{FF2B5EF4-FFF2-40B4-BE49-F238E27FC236}">
                <a16:creationId xmlns:a16="http://schemas.microsoft.com/office/drawing/2014/main" id="{3DEC5802-70B8-B44A-967E-38C65AA711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85B88C-0A42-A57B-E5F7-D7CC87B625BF}"/>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45877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6611C-C9CD-2EE9-32DD-51A3D1BA26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D6ACBC-0A45-D9AE-1EC3-4226FA46FE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B5BF14-1361-A33B-8032-F22752A76D71}"/>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5" name="Footer Placeholder 4">
            <a:extLst>
              <a:ext uri="{FF2B5EF4-FFF2-40B4-BE49-F238E27FC236}">
                <a16:creationId xmlns:a16="http://schemas.microsoft.com/office/drawing/2014/main" id="{7E6871AD-3C5C-8CB8-F942-E745A9812A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2757A2-46B2-14C9-FA84-AAF0AB5327FB}"/>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447572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2A11-567F-D76C-253A-F69865A952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6C359E-753C-F6AE-BDF7-3DEC023092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2944307-E4C7-8BCE-E6CD-C4CAE07D6C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6736BB0-CA24-0589-64A9-A0AE36A1E5C9}"/>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6" name="Footer Placeholder 5">
            <a:extLst>
              <a:ext uri="{FF2B5EF4-FFF2-40B4-BE49-F238E27FC236}">
                <a16:creationId xmlns:a16="http://schemas.microsoft.com/office/drawing/2014/main" id="{A4A4EEFF-B201-B027-A3B0-B0845C1E94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CC1DF1-EDEF-6117-9209-E6CB25A688D7}"/>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625689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1620-F45A-11B0-F3EA-D63E297DBC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2093FE-EADE-ABE5-A798-14B4493E1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374D9E-B12B-41D5-79BA-5A7B7241DE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903EBEE-59AA-0DE8-780F-A335ED9D84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B95EDF-299A-525C-5B2F-32307987E7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939987-3921-238D-94B2-49C7DE4F67DE}"/>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8" name="Footer Placeholder 7">
            <a:extLst>
              <a:ext uri="{FF2B5EF4-FFF2-40B4-BE49-F238E27FC236}">
                <a16:creationId xmlns:a16="http://schemas.microsoft.com/office/drawing/2014/main" id="{AD51E47E-C0DC-C189-69CA-AED31913A62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EE5929-3E18-910F-BA49-EA2E37CA2438}"/>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2112054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423E-C781-78D4-3A7C-855D75476B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D9FF15-63CD-A103-4D48-108356729002}"/>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4" name="Footer Placeholder 3">
            <a:extLst>
              <a:ext uri="{FF2B5EF4-FFF2-40B4-BE49-F238E27FC236}">
                <a16:creationId xmlns:a16="http://schemas.microsoft.com/office/drawing/2014/main" id="{865C6450-1FFB-6C4D-8DE3-87D72C2BD7B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5D730A-CAA7-0222-F421-A159EB58832B}"/>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3550565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53C979-5EAD-A270-2CFF-AC9BEEF9C0A7}"/>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3" name="Footer Placeholder 2">
            <a:extLst>
              <a:ext uri="{FF2B5EF4-FFF2-40B4-BE49-F238E27FC236}">
                <a16:creationId xmlns:a16="http://schemas.microsoft.com/office/drawing/2014/main" id="{2F0B7677-2621-C61F-88D6-A758D3F4157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1DF173-469A-F032-923A-6029E8ABDA9A}"/>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4223720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45FC0-A4FC-7EB8-34C4-D0F4B2BD51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7696E8-A76B-8852-FB49-ED1D77E54E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3EC188-9057-BA8F-4FFB-302E863C79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24F60D-2BD2-0C9C-9F9B-6E940C2C9129}"/>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6" name="Footer Placeholder 5">
            <a:extLst>
              <a:ext uri="{FF2B5EF4-FFF2-40B4-BE49-F238E27FC236}">
                <a16:creationId xmlns:a16="http://schemas.microsoft.com/office/drawing/2014/main" id="{C4A320F5-752A-328B-70F9-D9A959DF41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0153CC3-7838-5F99-4F1A-F5FDCA452090}"/>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1761341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0CB70-5ED7-8825-33B0-3A80145E19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8345944-FB76-834C-3E42-4944BF3FC0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2D72777-4DB1-8679-7A1D-8F7D85377A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A52712-45AA-3ACD-8A3C-F0A1D5B669F7}"/>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6" name="Footer Placeholder 5">
            <a:extLst>
              <a:ext uri="{FF2B5EF4-FFF2-40B4-BE49-F238E27FC236}">
                <a16:creationId xmlns:a16="http://schemas.microsoft.com/office/drawing/2014/main" id="{24D51CD2-5071-2F5E-739A-338BB07AA5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104584-C939-FBFD-F2E1-98EFB05A47A9}"/>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1168810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25D20-F43B-78CC-25DA-C966DFEB93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D5751D-C166-451E-8181-6594E11B6A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BB0A1E-4720-32A0-5255-14BFEAC791CA}"/>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5" name="Footer Placeholder 4">
            <a:extLst>
              <a:ext uri="{FF2B5EF4-FFF2-40B4-BE49-F238E27FC236}">
                <a16:creationId xmlns:a16="http://schemas.microsoft.com/office/drawing/2014/main" id="{75994884-E8DB-DEE5-08F5-A69E9D8657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72D859-7D04-A935-0281-174E1AD6456F}"/>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4178837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E92BE5-3F2B-68E9-98F2-7EC1E675878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630014-D6F2-E5C0-4A95-865445AB84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1B7E09-BB05-936A-83A7-A7C34699AE0B}"/>
              </a:ext>
            </a:extLst>
          </p:cNvPr>
          <p:cNvSpPr>
            <a:spLocks noGrp="1"/>
          </p:cNvSpPr>
          <p:nvPr>
            <p:ph type="dt" sz="half" idx="10"/>
          </p:nvPr>
        </p:nvSpPr>
        <p:spPr/>
        <p:txBody>
          <a:bodyPr/>
          <a:lstStyle/>
          <a:p>
            <a:fld id="{185EF5F6-96A9-4CDA-8054-8AAC93B52AC9}" type="datetimeFigureOut">
              <a:rPr lang="en-IN" smtClean="0"/>
              <a:t>16-04-2026</a:t>
            </a:fld>
            <a:endParaRPr lang="en-IN"/>
          </a:p>
        </p:txBody>
      </p:sp>
      <p:sp>
        <p:nvSpPr>
          <p:cNvPr id="5" name="Footer Placeholder 4">
            <a:extLst>
              <a:ext uri="{FF2B5EF4-FFF2-40B4-BE49-F238E27FC236}">
                <a16:creationId xmlns:a16="http://schemas.microsoft.com/office/drawing/2014/main" id="{2ED27A8A-0DC5-CFA3-9B70-B66DCCCF86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ECF818-4001-88A1-83F2-55A4B5E60C4E}"/>
              </a:ext>
            </a:extLst>
          </p:cNvPr>
          <p:cNvSpPr>
            <a:spLocks noGrp="1"/>
          </p:cNvSpPr>
          <p:nvPr>
            <p:ph type="sldNum" sz="quarter" idx="12"/>
          </p:nvPr>
        </p:nvSpPr>
        <p:spPr/>
        <p:txBody>
          <a:bodyPr/>
          <a:lstStyle/>
          <a:p>
            <a:fld id="{6BC4639F-EBBF-44D5-A076-3E900CFFBC1D}" type="slidenum">
              <a:rPr lang="en-IN" smtClean="0"/>
              <a:t>‹#›</a:t>
            </a:fld>
            <a:endParaRPr lang="en-IN"/>
          </a:p>
        </p:txBody>
      </p:sp>
    </p:spTree>
    <p:extLst>
      <p:ext uri="{BB962C8B-B14F-4D97-AF65-F5344CB8AC3E}">
        <p14:creationId xmlns:p14="http://schemas.microsoft.com/office/powerpoint/2010/main" val="3370847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9DE7E3"/>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03F5F5-B6F8-1E0A-B473-2FDFA7B985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63C512-833D-2024-5FD9-0854187C64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995C00-D1F7-B649-BE05-0F6CB34226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5EF5F6-96A9-4CDA-8054-8AAC93B52AC9}" type="datetimeFigureOut">
              <a:rPr lang="en-IN" smtClean="0"/>
              <a:t>16-04-2026</a:t>
            </a:fld>
            <a:endParaRPr lang="en-IN"/>
          </a:p>
        </p:txBody>
      </p:sp>
      <p:sp>
        <p:nvSpPr>
          <p:cNvPr id="5" name="Footer Placeholder 4">
            <a:extLst>
              <a:ext uri="{FF2B5EF4-FFF2-40B4-BE49-F238E27FC236}">
                <a16:creationId xmlns:a16="http://schemas.microsoft.com/office/drawing/2014/main" id="{C2D00E4A-626F-89B4-F77A-4AB26DE083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CF19DF3-D01A-52CB-CA0C-09A95A5A0D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C4639F-EBBF-44D5-A076-3E900CFFBC1D}" type="slidenum">
              <a:rPr lang="en-IN" smtClean="0"/>
              <a:t>‹#›</a:t>
            </a:fld>
            <a:endParaRPr lang="en-IN"/>
          </a:p>
        </p:txBody>
      </p:sp>
    </p:spTree>
    <p:extLst>
      <p:ext uri="{BB962C8B-B14F-4D97-AF65-F5344CB8AC3E}">
        <p14:creationId xmlns:p14="http://schemas.microsoft.com/office/powerpoint/2010/main" val="1291977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E8C811-3A91-0EB8-7C21-5E92FB3851C9}"/>
              </a:ext>
            </a:extLst>
          </p:cNvPr>
          <p:cNvSpPr txBox="1"/>
          <p:nvPr/>
        </p:nvSpPr>
        <p:spPr>
          <a:xfrm>
            <a:off x="2720860" y="2228671"/>
            <a:ext cx="6750279" cy="1200329"/>
          </a:xfrm>
          <a:prstGeom prst="rect">
            <a:avLst/>
          </a:prstGeom>
          <a:noFill/>
        </p:spPr>
        <p:txBody>
          <a:bodyPr wrap="square" rtlCol="0">
            <a:spAutoFit/>
          </a:bodyPr>
          <a:lstStyle/>
          <a:p>
            <a:r>
              <a:rPr lang="en-IN" sz="3600" dirty="0">
                <a:latin typeface="Bahnschrift Light SemiCondensed" panose="020B0502040204020203" pitchFamily="34" charset="0"/>
              </a:rPr>
              <a:t>Flipkart Customer Segmentation and Targeted Marketing Intelligence</a:t>
            </a:r>
          </a:p>
        </p:txBody>
      </p:sp>
      <p:sp>
        <p:nvSpPr>
          <p:cNvPr id="3" name="TextBox 2">
            <a:extLst>
              <a:ext uri="{FF2B5EF4-FFF2-40B4-BE49-F238E27FC236}">
                <a16:creationId xmlns:a16="http://schemas.microsoft.com/office/drawing/2014/main" id="{E246ED78-1354-159F-E7AD-6EAD56D2FBE8}"/>
              </a:ext>
            </a:extLst>
          </p:cNvPr>
          <p:cNvSpPr txBox="1"/>
          <p:nvPr/>
        </p:nvSpPr>
        <p:spPr>
          <a:xfrm>
            <a:off x="9471139" y="5572125"/>
            <a:ext cx="2695575" cy="923330"/>
          </a:xfrm>
          <a:prstGeom prst="rect">
            <a:avLst/>
          </a:prstGeom>
          <a:noFill/>
        </p:spPr>
        <p:txBody>
          <a:bodyPr wrap="square" rtlCol="0">
            <a:spAutoFit/>
          </a:bodyPr>
          <a:lstStyle/>
          <a:p>
            <a:r>
              <a:rPr lang="en-IN" dirty="0" err="1"/>
              <a:t>Ajayraj</a:t>
            </a:r>
            <a:r>
              <a:rPr lang="en-IN" dirty="0"/>
              <a:t> R</a:t>
            </a:r>
          </a:p>
          <a:p>
            <a:r>
              <a:rPr lang="en-IN" dirty="0"/>
              <a:t>BMAI-S-WD-T-B32</a:t>
            </a:r>
          </a:p>
          <a:p>
            <a:r>
              <a:rPr lang="en-IN" dirty="0"/>
              <a:t>Final Project - 1</a:t>
            </a:r>
          </a:p>
        </p:txBody>
      </p:sp>
      <p:pic>
        <p:nvPicPr>
          <p:cNvPr id="5" name="Picture 4">
            <a:extLst>
              <a:ext uri="{FF2B5EF4-FFF2-40B4-BE49-F238E27FC236}">
                <a16:creationId xmlns:a16="http://schemas.microsoft.com/office/drawing/2014/main" id="{FF906B14-91C3-986C-5250-7F89618DC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 y="4759325"/>
            <a:ext cx="1917700" cy="1917700"/>
          </a:xfrm>
          <a:prstGeom prst="rect">
            <a:avLst/>
          </a:prstGeom>
        </p:spPr>
      </p:pic>
    </p:spTree>
    <p:extLst>
      <p:ext uri="{BB962C8B-B14F-4D97-AF65-F5344CB8AC3E}">
        <p14:creationId xmlns:p14="http://schemas.microsoft.com/office/powerpoint/2010/main" val="443387250"/>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B4014B-EE5D-5FC4-5426-A3E97D10A344}"/>
              </a:ext>
            </a:extLst>
          </p:cNvPr>
          <p:cNvPicPr>
            <a:picLocks noChangeAspect="1"/>
          </p:cNvPicPr>
          <p:nvPr/>
        </p:nvPicPr>
        <p:blipFill>
          <a:blip r:embed="rId2"/>
          <a:stretch>
            <a:fillRect/>
          </a:stretch>
        </p:blipFill>
        <p:spPr>
          <a:xfrm>
            <a:off x="2928495" y="1559825"/>
            <a:ext cx="6335009" cy="3048425"/>
          </a:xfrm>
          <a:prstGeom prst="rect">
            <a:avLst/>
          </a:prstGeom>
          <a:effectLst>
            <a:softEdge rad="31750"/>
          </a:effectLst>
        </p:spPr>
      </p:pic>
      <p:sp>
        <p:nvSpPr>
          <p:cNvPr id="4" name="TextBox 3">
            <a:extLst>
              <a:ext uri="{FF2B5EF4-FFF2-40B4-BE49-F238E27FC236}">
                <a16:creationId xmlns:a16="http://schemas.microsoft.com/office/drawing/2014/main" id="{251B8865-D393-BEC6-ADD9-C76E07CA866A}"/>
              </a:ext>
            </a:extLst>
          </p:cNvPr>
          <p:cNvSpPr txBox="1"/>
          <p:nvPr/>
        </p:nvSpPr>
        <p:spPr>
          <a:xfrm>
            <a:off x="3748086" y="514350"/>
            <a:ext cx="4695825" cy="584775"/>
          </a:xfrm>
          <a:prstGeom prst="rect">
            <a:avLst/>
          </a:prstGeom>
          <a:noFill/>
        </p:spPr>
        <p:txBody>
          <a:bodyPr wrap="square" rtlCol="0">
            <a:spAutoFit/>
          </a:bodyPr>
          <a:lstStyle/>
          <a:p>
            <a:r>
              <a:rPr lang="en-IN" sz="3200" dirty="0"/>
              <a:t>Revenue Share by each segment</a:t>
            </a:r>
          </a:p>
        </p:txBody>
      </p:sp>
    </p:spTree>
    <p:extLst>
      <p:ext uri="{BB962C8B-B14F-4D97-AF65-F5344CB8AC3E}">
        <p14:creationId xmlns:p14="http://schemas.microsoft.com/office/powerpoint/2010/main" val="1711718406"/>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8E4A46-3B89-1DCC-A079-BC598C0C7CFE}"/>
              </a:ext>
            </a:extLst>
          </p:cNvPr>
          <p:cNvSpPr txBox="1"/>
          <p:nvPr/>
        </p:nvSpPr>
        <p:spPr>
          <a:xfrm>
            <a:off x="1932249" y="938927"/>
            <a:ext cx="8327501" cy="2585323"/>
          </a:xfrm>
          <a:prstGeom prst="rect">
            <a:avLst/>
          </a:prstGeom>
          <a:noFill/>
        </p:spPr>
        <p:txBody>
          <a:bodyPr wrap="square" rtlCol="0">
            <a:spAutoFit/>
          </a:bodyPr>
          <a:lstStyle/>
          <a:p>
            <a:endParaRPr lang="en-IN" dirty="0"/>
          </a:p>
          <a:p>
            <a:endParaRPr lang="en-IN" dirty="0"/>
          </a:p>
          <a:p>
            <a:r>
              <a:rPr lang="en-IN" dirty="0"/>
              <a:t>Analysis</a:t>
            </a:r>
          </a:p>
          <a:p>
            <a:pPr marL="285750" indent="-285750">
              <a:buFont typeface="Arial" panose="020B0604020202020204" pitchFamily="34" charset="0"/>
              <a:buChar char="•"/>
            </a:pPr>
            <a:r>
              <a:rPr lang="en-IN" dirty="0"/>
              <a:t>These are the most valuable set of customers to any business.it is very important that a healthy amount of marketing spending can be incurred here to keep them engaged with our product or service.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They contribute the highest in terms of revenue which is 35.5%.</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They respond well to loyalty points 67% open rate.</a:t>
            </a:r>
          </a:p>
        </p:txBody>
      </p:sp>
      <p:sp>
        <p:nvSpPr>
          <p:cNvPr id="5" name="TextBox 4">
            <a:extLst>
              <a:ext uri="{FF2B5EF4-FFF2-40B4-BE49-F238E27FC236}">
                <a16:creationId xmlns:a16="http://schemas.microsoft.com/office/drawing/2014/main" id="{BBAA9BC0-CE27-9DAF-09C2-1EF183A2D422}"/>
              </a:ext>
            </a:extLst>
          </p:cNvPr>
          <p:cNvSpPr txBox="1"/>
          <p:nvPr/>
        </p:nvSpPr>
        <p:spPr>
          <a:xfrm>
            <a:off x="1168924" y="552450"/>
            <a:ext cx="1828800" cy="584775"/>
          </a:xfrm>
          <a:prstGeom prst="rect">
            <a:avLst/>
          </a:prstGeom>
          <a:noFill/>
        </p:spPr>
        <p:txBody>
          <a:bodyPr wrap="square" rtlCol="0">
            <a:spAutoFit/>
          </a:bodyPr>
          <a:lstStyle/>
          <a:p>
            <a:r>
              <a:rPr lang="en-IN" sz="3200" dirty="0"/>
              <a:t>Champions</a:t>
            </a:r>
          </a:p>
        </p:txBody>
      </p:sp>
      <p:sp>
        <p:nvSpPr>
          <p:cNvPr id="6" name="TextBox 5">
            <a:extLst>
              <a:ext uri="{FF2B5EF4-FFF2-40B4-BE49-F238E27FC236}">
                <a16:creationId xmlns:a16="http://schemas.microsoft.com/office/drawing/2014/main" id="{0282657A-706B-A63E-6839-4239B72CF1A2}"/>
              </a:ext>
            </a:extLst>
          </p:cNvPr>
          <p:cNvSpPr txBox="1"/>
          <p:nvPr/>
        </p:nvSpPr>
        <p:spPr>
          <a:xfrm>
            <a:off x="1932248" y="4857750"/>
            <a:ext cx="8327501" cy="1200329"/>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dirty="0"/>
              <a:t>We can give them </a:t>
            </a:r>
            <a:r>
              <a:rPr lang="en-IN" u="sng" dirty="0"/>
              <a:t>priority treatment </a:t>
            </a:r>
            <a:r>
              <a:rPr lang="en-IN" dirty="0"/>
              <a:t>to make them stay loyal.</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Flipkart gives </a:t>
            </a:r>
            <a:r>
              <a:rPr lang="en-IN" u="sng" dirty="0"/>
              <a:t>early access to the priority customers </a:t>
            </a:r>
            <a:r>
              <a:rPr lang="en-IN" dirty="0"/>
              <a:t>for offer products. These can be used for them.</a:t>
            </a:r>
          </a:p>
        </p:txBody>
      </p:sp>
      <p:pic>
        <p:nvPicPr>
          <p:cNvPr id="8" name="Picture 7">
            <a:extLst>
              <a:ext uri="{FF2B5EF4-FFF2-40B4-BE49-F238E27FC236}">
                <a16:creationId xmlns:a16="http://schemas.microsoft.com/office/drawing/2014/main" id="{A49DF1E8-CC3D-2675-0BB2-20FFAC542C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6760" y="3574865"/>
            <a:ext cx="3038475" cy="1232270"/>
          </a:xfrm>
          <a:prstGeom prst="rect">
            <a:avLst/>
          </a:prstGeom>
          <a:solidFill>
            <a:schemeClr val="bg1">
              <a:alpha val="1000"/>
            </a:schemeClr>
          </a:solidFill>
          <a:effectLst>
            <a:softEdge rad="31750"/>
          </a:effectLst>
          <a:scene3d>
            <a:camera prst="orthographicFront"/>
            <a:lightRig rig="threePt" dir="t"/>
          </a:scene3d>
          <a:sp3d>
            <a:bevelT prst="relaxedInset"/>
          </a:sp3d>
        </p:spPr>
      </p:pic>
    </p:spTree>
    <p:extLst>
      <p:ext uri="{BB962C8B-B14F-4D97-AF65-F5344CB8AC3E}">
        <p14:creationId xmlns:p14="http://schemas.microsoft.com/office/powerpoint/2010/main" val="4050321719"/>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6D83A0-07B9-47A5-6525-EE403770AF28}"/>
              </a:ext>
            </a:extLst>
          </p:cNvPr>
          <p:cNvSpPr txBox="1"/>
          <p:nvPr/>
        </p:nvSpPr>
        <p:spPr>
          <a:xfrm>
            <a:off x="2235723" y="635426"/>
            <a:ext cx="7720553" cy="3416320"/>
          </a:xfrm>
          <a:prstGeom prst="rect">
            <a:avLst/>
          </a:prstGeom>
          <a:noFill/>
        </p:spPr>
        <p:txBody>
          <a:bodyPr wrap="square" rtlCol="0">
            <a:spAutoFit/>
          </a:bodyPr>
          <a:lstStyle/>
          <a:p>
            <a:endParaRPr lang="en-IN" dirty="0"/>
          </a:p>
          <a:p>
            <a:endParaRPr lang="en-IN" dirty="0"/>
          </a:p>
          <a:p>
            <a:endParaRPr lang="en-IN" dirty="0"/>
          </a:p>
          <a:p>
            <a:r>
              <a:rPr lang="en-IN" dirty="0"/>
              <a:t>Analysis</a:t>
            </a:r>
          </a:p>
          <a:p>
            <a:pPr marL="285750" indent="-285750">
              <a:buFont typeface="Arial" panose="020B0604020202020204" pitchFamily="34" charset="0"/>
              <a:buChar char="•"/>
            </a:pPr>
            <a:r>
              <a:rPr lang="en-IN" dirty="0"/>
              <a:t>This is potentially the largest group in terms of customer counts wiz 1400+</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But in terms of contribution they do not pose a lot. They purchase good quantity of items but that does not translate to revenue as much as we would expect.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This high count and low value suggests that they stick to categories that does not cost a lump sum.</a:t>
            </a:r>
          </a:p>
          <a:p>
            <a:pPr marL="285750" indent="-285750">
              <a:buFont typeface="Arial" panose="020B0604020202020204" pitchFamily="34" charset="0"/>
              <a:buChar char="•"/>
            </a:pPr>
            <a:endParaRPr lang="en-IN" dirty="0"/>
          </a:p>
        </p:txBody>
      </p:sp>
      <p:sp>
        <p:nvSpPr>
          <p:cNvPr id="4" name="TextBox 3">
            <a:extLst>
              <a:ext uri="{FF2B5EF4-FFF2-40B4-BE49-F238E27FC236}">
                <a16:creationId xmlns:a16="http://schemas.microsoft.com/office/drawing/2014/main" id="{585FE4D1-E234-7172-CBFA-F2EC15A11D8B}"/>
              </a:ext>
            </a:extLst>
          </p:cNvPr>
          <p:cNvSpPr txBox="1"/>
          <p:nvPr/>
        </p:nvSpPr>
        <p:spPr>
          <a:xfrm>
            <a:off x="892698" y="764154"/>
            <a:ext cx="2686050" cy="584775"/>
          </a:xfrm>
          <a:prstGeom prst="rect">
            <a:avLst/>
          </a:prstGeom>
          <a:noFill/>
        </p:spPr>
        <p:txBody>
          <a:bodyPr wrap="square" rtlCol="0">
            <a:spAutoFit/>
          </a:bodyPr>
          <a:lstStyle/>
          <a:p>
            <a:r>
              <a:rPr lang="en-IN" sz="3200" dirty="0"/>
              <a:t>Potential Loyalists</a:t>
            </a:r>
          </a:p>
        </p:txBody>
      </p:sp>
      <p:sp>
        <p:nvSpPr>
          <p:cNvPr id="5" name="TextBox 4">
            <a:extLst>
              <a:ext uri="{FF2B5EF4-FFF2-40B4-BE49-F238E27FC236}">
                <a16:creationId xmlns:a16="http://schemas.microsoft.com/office/drawing/2014/main" id="{8AF9D97B-80A1-EF13-57BF-8A77D217CD67}"/>
              </a:ext>
            </a:extLst>
          </p:cNvPr>
          <p:cNvSpPr txBox="1"/>
          <p:nvPr/>
        </p:nvSpPr>
        <p:spPr>
          <a:xfrm>
            <a:off x="2235723" y="4448175"/>
            <a:ext cx="7720553" cy="923330"/>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u="sng" dirty="0"/>
              <a:t>Voucher or coupons </a:t>
            </a:r>
            <a:r>
              <a:rPr lang="en-IN" dirty="0"/>
              <a:t>could be provided so that order value may increase and push them to higher average order value</a:t>
            </a:r>
          </a:p>
        </p:txBody>
      </p:sp>
      <p:pic>
        <p:nvPicPr>
          <p:cNvPr id="7" name="Picture 6">
            <a:extLst>
              <a:ext uri="{FF2B5EF4-FFF2-40B4-BE49-F238E27FC236}">
                <a16:creationId xmlns:a16="http://schemas.microsoft.com/office/drawing/2014/main" id="{EE24E3E2-193D-5854-F0BF-9CEBB96044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4782" y="5275307"/>
            <a:ext cx="1902436" cy="1335043"/>
          </a:xfrm>
          <a:prstGeom prst="rect">
            <a:avLst/>
          </a:prstGeom>
          <a:effectLst>
            <a:softEdge rad="31750"/>
          </a:effectLst>
        </p:spPr>
      </p:pic>
    </p:spTree>
    <p:extLst>
      <p:ext uri="{BB962C8B-B14F-4D97-AF65-F5344CB8AC3E}">
        <p14:creationId xmlns:p14="http://schemas.microsoft.com/office/powerpoint/2010/main" val="3915657958"/>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8BDFE9-FE20-E122-BCFF-AC1DCF0FFAE6}"/>
              </a:ext>
            </a:extLst>
          </p:cNvPr>
          <p:cNvPicPr>
            <a:picLocks noChangeAspect="1"/>
          </p:cNvPicPr>
          <p:nvPr/>
        </p:nvPicPr>
        <p:blipFill>
          <a:blip r:embed="rId2"/>
          <a:stretch>
            <a:fillRect/>
          </a:stretch>
        </p:blipFill>
        <p:spPr>
          <a:xfrm>
            <a:off x="270649" y="2252498"/>
            <a:ext cx="11650701" cy="2353003"/>
          </a:xfrm>
          <a:prstGeom prst="rect">
            <a:avLst/>
          </a:prstGeom>
          <a:effectLst>
            <a:softEdge rad="31750"/>
          </a:effectLst>
        </p:spPr>
      </p:pic>
      <p:sp>
        <p:nvSpPr>
          <p:cNvPr id="4" name="TextBox 3">
            <a:extLst>
              <a:ext uri="{FF2B5EF4-FFF2-40B4-BE49-F238E27FC236}">
                <a16:creationId xmlns:a16="http://schemas.microsoft.com/office/drawing/2014/main" id="{7C32B4D3-3862-8E4D-E337-0AA18D130DDD}"/>
              </a:ext>
            </a:extLst>
          </p:cNvPr>
          <p:cNvSpPr txBox="1"/>
          <p:nvPr/>
        </p:nvSpPr>
        <p:spPr>
          <a:xfrm>
            <a:off x="3648074" y="1019175"/>
            <a:ext cx="4895850" cy="584775"/>
          </a:xfrm>
          <a:prstGeom prst="rect">
            <a:avLst/>
          </a:prstGeom>
          <a:noFill/>
        </p:spPr>
        <p:txBody>
          <a:bodyPr wrap="square" rtlCol="0">
            <a:spAutoFit/>
          </a:bodyPr>
          <a:lstStyle/>
          <a:p>
            <a:r>
              <a:rPr lang="en-IN" sz="3200" dirty="0"/>
              <a:t>Product and category Intelligence</a:t>
            </a:r>
          </a:p>
        </p:txBody>
      </p:sp>
    </p:spTree>
    <p:extLst>
      <p:ext uri="{BB962C8B-B14F-4D97-AF65-F5344CB8AC3E}">
        <p14:creationId xmlns:p14="http://schemas.microsoft.com/office/powerpoint/2010/main" val="3313940933"/>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F4BD4E-A9BD-BA08-002A-6D33D1FB6EF7}"/>
              </a:ext>
            </a:extLst>
          </p:cNvPr>
          <p:cNvSpPr txBox="1"/>
          <p:nvPr/>
        </p:nvSpPr>
        <p:spPr>
          <a:xfrm>
            <a:off x="2339419" y="936691"/>
            <a:ext cx="7513162" cy="2862322"/>
          </a:xfrm>
          <a:prstGeom prst="rect">
            <a:avLst/>
          </a:prstGeom>
          <a:noFill/>
        </p:spPr>
        <p:txBody>
          <a:bodyPr wrap="square" rtlCol="0">
            <a:spAutoFit/>
          </a:bodyPr>
          <a:lstStyle/>
          <a:p>
            <a:endParaRPr lang="en-IN" dirty="0"/>
          </a:p>
          <a:p>
            <a:endParaRPr lang="en-IN" dirty="0"/>
          </a:p>
          <a:p>
            <a:r>
              <a:rPr lang="en-IN" dirty="0"/>
              <a:t>Analysis</a:t>
            </a:r>
          </a:p>
          <a:p>
            <a:pPr marL="285750" indent="-285750">
              <a:buFont typeface="Arial" panose="020B0604020202020204" pitchFamily="34" charset="0"/>
              <a:buChar char="•"/>
            </a:pPr>
            <a:r>
              <a:rPr lang="en-IN" dirty="0"/>
              <a:t>They are a massive revenue barrier and deliberately larger customer base.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Evidently they have higher click rates  on “welcome discounts”(66%) but their “bug billion days “ engagement is not much in numbers.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They contribute significantly to the revenue unlike potential loyalists so losing them would be a crucial loss.</a:t>
            </a:r>
          </a:p>
        </p:txBody>
      </p:sp>
      <p:sp>
        <p:nvSpPr>
          <p:cNvPr id="4" name="TextBox 3">
            <a:extLst>
              <a:ext uri="{FF2B5EF4-FFF2-40B4-BE49-F238E27FC236}">
                <a16:creationId xmlns:a16="http://schemas.microsoft.com/office/drawing/2014/main" id="{E1FF2DAA-C356-4E29-FE69-3A01D7CD837D}"/>
              </a:ext>
            </a:extLst>
          </p:cNvPr>
          <p:cNvSpPr txBox="1"/>
          <p:nvPr/>
        </p:nvSpPr>
        <p:spPr>
          <a:xfrm>
            <a:off x="1129744" y="866775"/>
            <a:ext cx="1209675" cy="584775"/>
          </a:xfrm>
          <a:prstGeom prst="rect">
            <a:avLst/>
          </a:prstGeom>
          <a:noFill/>
        </p:spPr>
        <p:txBody>
          <a:bodyPr wrap="square" rtlCol="0">
            <a:spAutoFit/>
          </a:bodyPr>
          <a:lstStyle/>
          <a:p>
            <a:r>
              <a:rPr lang="en-IN" sz="3200" dirty="0"/>
              <a:t>At Risk</a:t>
            </a:r>
          </a:p>
        </p:txBody>
      </p:sp>
      <p:sp>
        <p:nvSpPr>
          <p:cNvPr id="5" name="TextBox 4">
            <a:extLst>
              <a:ext uri="{FF2B5EF4-FFF2-40B4-BE49-F238E27FC236}">
                <a16:creationId xmlns:a16="http://schemas.microsoft.com/office/drawing/2014/main" id="{F12BDA06-1301-2482-4F9A-8DAED42BA6E4}"/>
              </a:ext>
            </a:extLst>
          </p:cNvPr>
          <p:cNvSpPr txBox="1"/>
          <p:nvPr/>
        </p:nvSpPr>
        <p:spPr>
          <a:xfrm>
            <a:off x="2339419" y="4457700"/>
            <a:ext cx="7513162" cy="1477328"/>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dirty="0"/>
              <a:t>A </a:t>
            </a:r>
            <a:r>
              <a:rPr lang="en-IN" u="sng" dirty="0"/>
              <a:t>limited time offer of 20% -25% </a:t>
            </a:r>
            <a:r>
              <a:rPr lang="en-IN" dirty="0"/>
              <a:t>of their most browsed items may encourage them. Mostly consists of “Fashion” or “Mobiles” category as per the session’s heatmap</a:t>
            </a:r>
          </a:p>
          <a:p>
            <a:pPr marL="285750" indent="-285750">
              <a:buFont typeface="Arial" panose="020B0604020202020204" pitchFamily="34" charset="0"/>
              <a:buChar char="•"/>
            </a:pPr>
            <a:endParaRPr lang="en-IN" dirty="0"/>
          </a:p>
          <a:p>
            <a:endParaRPr lang="en-IN" dirty="0"/>
          </a:p>
        </p:txBody>
      </p:sp>
    </p:spTree>
    <p:extLst>
      <p:ext uri="{BB962C8B-B14F-4D97-AF65-F5344CB8AC3E}">
        <p14:creationId xmlns:p14="http://schemas.microsoft.com/office/powerpoint/2010/main" val="930017304"/>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119DBA-5B97-3F42-301D-A5F0C0D39B8D}"/>
              </a:ext>
            </a:extLst>
          </p:cNvPr>
          <p:cNvSpPr txBox="1"/>
          <p:nvPr/>
        </p:nvSpPr>
        <p:spPr>
          <a:xfrm>
            <a:off x="2033046" y="1043430"/>
            <a:ext cx="8125905" cy="2308324"/>
          </a:xfrm>
          <a:prstGeom prst="rect">
            <a:avLst/>
          </a:prstGeom>
          <a:noFill/>
        </p:spPr>
        <p:txBody>
          <a:bodyPr wrap="square" rtlCol="0">
            <a:spAutoFit/>
          </a:bodyPr>
          <a:lstStyle/>
          <a:p>
            <a:endParaRPr lang="en-IN" dirty="0"/>
          </a:p>
          <a:p>
            <a:endParaRPr lang="en-IN" dirty="0"/>
          </a:p>
          <a:p>
            <a:r>
              <a:rPr lang="en-IN" dirty="0"/>
              <a:t>Analysis</a:t>
            </a:r>
          </a:p>
          <a:p>
            <a:pPr marL="285750" indent="-285750">
              <a:buFont typeface="Arial" panose="020B0604020202020204" pitchFamily="34" charset="0"/>
              <a:buChar char="•"/>
            </a:pPr>
            <a:r>
              <a:rPr lang="en-IN" dirty="0"/>
              <a:t>They contribute 18% of revenue in spite of being a relatively small customer numbers. They have a really high “cart abandonment” response referring to their 60% of click rate.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Their “cart abandonment” shows they are likely to buy or still looking. These were likely big spenders who stopped purchasing. </a:t>
            </a:r>
          </a:p>
        </p:txBody>
      </p:sp>
      <p:sp>
        <p:nvSpPr>
          <p:cNvPr id="4" name="TextBox 3">
            <a:extLst>
              <a:ext uri="{FF2B5EF4-FFF2-40B4-BE49-F238E27FC236}">
                <a16:creationId xmlns:a16="http://schemas.microsoft.com/office/drawing/2014/main" id="{A734E676-8F6F-C2DF-F0F0-484CC6C13A18}"/>
              </a:ext>
            </a:extLst>
          </p:cNvPr>
          <p:cNvSpPr txBox="1"/>
          <p:nvPr/>
        </p:nvSpPr>
        <p:spPr>
          <a:xfrm>
            <a:off x="637634" y="847725"/>
            <a:ext cx="2790825" cy="584775"/>
          </a:xfrm>
          <a:prstGeom prst="rect">
            <a:avLst/>
          </a:prstGeom>
          <a:noFill/>
        </p:spPr>
        <p:txBody>
          <a:bodyPr wrap="square" rtlCol="0">
            <a:spAutoFit/>
          </a:bodyPr>
          <a:lstStyle/>
          <a:p>
            <a:r>
              <a:rPr lang="en-IN" sz="3200" dirty="0"/>
              <a:t>Cannot lose them</a:t>
            </a:r>
          </a:p>
        </p:txBody>
      </p:sp>
      <p:sp>
        <p:nvSpPr>
          <p:cNvPr id="6" name="TextBox 5">
            <a:extLst>
              <a:ext uri="{FF2B5EF4-FFF2-40B4-BE49-F238E27FC236}">
                <a16:creationId xmlns:a16="http://schemas.microsoft.com/office/drawing/2014/main" id="{E739DB35-DD31-2E5C-E7B1-AB8294BB93F4}"/>
              </a:ext>
            </a:extLst>
          </p:cNvPr>
          <p:cNvSpPr txBox="1"/>
          <p:nvPr/>
        </p:nvSpPr>
        <p:spPr>
          <a:xfrm>
            <a:off x="2033046" y="4238625"/>
            <a:ext cx="8125905" cy="1200329"/>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dirty="0"/>
              <a:t>Offering  a </a:t>
            </a:r>
            <a:r>
              <a:rPr lang="en-IN" u="sng" dirty="0"/>
              <a:t>loyalty points renewal system </a:t>
            </a:r>
            <a:r>
              <a:rPr lang="en-IN" dirty="0"/>
              <a:t>for them is effective.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u="sng" dirty="0"/>
              <a:t>Priority delivery benefits </a:t>
            </a:r>
            <a:r>
              <a:rPr lang="en-IN" dirty="0"/>
              <a:t>can also attract them.</a:t>
            </a:r>
          </a:p>
        </p:txBody>
      </p:sp>
    </p:spTree>
    <p:extLst>
      <p:ext uri="{BB962C8B-B14F-4D97-AF65-F5344CB8AC3E}">
        <p14:creationId xmlns:p14="http://schemas.microsoft.com/office/powerpoint/2010/main" val="3485074977"/>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3F6A63-6709-01F8-3C70-8524B8BC31BA}"/>
              </a:ext>
            </a:extLst>
          </p:cNvPr>
          <p:cNvPicPr>
            <a:picLocks noChangeAspect="1"/>
          </p:cNvPicPr>
          <p:nvPr/>
        </p:nvPicPr>
        <p:blipFill>
          <a:blip r:embed="rId2"/>
          <a:stretch>
            <a:fillRect/>
          </a:stretch>
        </p:blipFill>
        <p:spPr>
          <a:xfrm>
            <a:off x="191729" y="2013215"/>
            <a:ext cx="11808542" cy="2685376"/>
          </a:xfrm>
          <a:prstGeom prst="rect">
            <a:avLst/>
          </a:prstGeom>
          <a:effectLst>
            <a:softEdge rad="31750"/>
          </a:effectLst>
        </p:spPr>
      </p:pic>
      <p:sp>
        <p:nvSpPr>
          <p:cNvPr id="4" name="TextBox 3">
            <a:extLst>
              <a:ext uri="{FF2B5EF4-FFF2-40B4-BE49-F238E27FC236}">
                <a16:creationId xmlns:a16="http://schemas.microsoft.com/office/drawing/2014/main" id="{28D2DF4E-9B63-DDC9-57FC-109D4C67EF4D}"/>
              </a:ext>
            </a:extLst>
          </p:cNvPr>
          <p:cNvSpPr txBox="1"/>
          <p:nvPr/>
        </p:nvSpPr>
        <p:spPr>
          <a:xfrm>
            <a:off x="3824287" y="828675"/>
            <a:ext cx="4543425" cy="584775"/>
          </a:xfrm>
          <a:prstGeom prst="rect">
            <a:avLst/>
          </a:prstGeom>
          <a:noFill/>
        </p:spPr>
        <p:txBody>
          <a:bodyPr wrap="square" rtlCol="0">
            <a:spAutoFit/>
          </a:bodyPr>
          <a:lstStyle/>
          <a:p>
            <a:r>
              <a:rPr lang="en-IN" sz="3200" dirty="0"/>
              <a:t>Average Order value by Month</a:t>
            </a:r>
          </a:p>
        </p:txBody>
      </p:sp>
    </p:spTree>
    <p:extLst>
      <p:ext uri="{BB962C8B-B14F-4D97-AF65-F5344CB8AC3E}">
        <p14:creationId xmlns:p14="http://schemas.microsoft.com/office/powerpoint/2010/main" val="1774250683"/>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3D9A86-9C94-B435-7DA3-EBB13901FBC0}"/>
              </a:ext>
            </a:extLst>
          </p:cNvPr>
          <p:cNvSpPr txBox="1"/>
          <p:nvPr/>
        </p:nvSpPr>
        <p:spPr>
          <a:xfrm>
            <a:off x="2207442" y="828675"/>
            <a:ext cx="7777114" cy="2308324"/>
          </a:xfrm>
          <a:prstGeom prst="rect">
            <a:avLst/>
          </a:prstGeom>
          <a:noFill/>
        </p:spPr>
        <p:txBody>
          <a:bodyPr wrap="square" rtlCol="0">
            <a:spAutoFit/>
          </a:bodyPr>
          <a:lstStyle/>
          <a:p>
            <a:endParaRPr lang="en-IN" dirty="0"/>
          </a:p>
          <a:p>
            <a:endParaRPr lang="en-IN" dirty="0"/>
          </a:p>
          <a:p>
            <a:r>
              <a:rPr lang="en-IN" dirty="0"/>
              <a:t>Analysis</a:t>
            </a:r>
          </a:p>
          <a:p>
            <a:pPr marL="285750" indent="-285750">
              <a:buFont typeface="Arial" panose="020B0604020202020204" pitchFamily="34" charset="0"/>
              <a:buChar char="•"/>
            </a:pPr>
            <a:r>
              <a:rPr lang="en-IN" dirty="0"/>
              <a:t>These are relatively fresh customers and they show strong engagement in “Mobiles and Electronics” category. Their conversion rates on “welcome Discounts” are significantly good.</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As these users newly joined the system, the goal now would be to move them towards a second purchase to technically prevent them from going down to “lost category.</a:t>
            </a:r>
          </a:p>
        </p:txBody>
      </p:sp>
      <p:sp>
        <p:nvSpPr>
          <p:cNvPr id="3" name="TextBox 2">
            <a:extLst>
              <a:ext uri="{FF2B5EF4-FFF2-40B4-BE49-F238E27FC236}">
                <a16:creationId xmlns:a16="http://schemas.microsoft.com/office/drawing/2014/main" id="{A7A52A11-3980-CBB2-0E7B-DF1EA5850772}"/>
              </a:ext>
            </a:extLst>
          </p:cNvPr>
          <p:cNvSpPr txBox="1"/>
          <p:nvPr/>
        </p:nvSpPr>
        <p:spPr>
          <a:xfrm>
            <a:off x="1031105" y="828675"/>
            <a:ext cx="2352675" cy="584775"/>
          </a:xfrm>
          <a:prstGeom prst="rect">
            <a:avLst/>
          </a:prstGeom>
          <a:noFill/>
        </p:spPr>
        <p:txBody>
          <a:bodyPr wrap="square" rtlCol="0">
            <a:spAutoFit/>
          </a:bodyPr>
          <a:lstStyle/>
          <a:p>
            <a:r>
              <a:rPr lang="en-IN" sz="3200" dirty="0"/>
              <a:t>New Customers</a:t>
            </a:r>
          </a:p>
        </p:txBody>
      </p:sp>
      <p:sp>
        <p:nvSpPr>
          <p:cNvPr id="4" name="TextBox 3">
            <a:extLst>
              <a:ext uri="{FF2B5EF4-FFF2-40B4-BE49-F238E27FC236}">
                <a16:creationId xmlns:a16="http://schemas.microsoft.com/office/drawing/2014/main" id="{D7F132A3-2410-83A6-8DCB-E2ECA6296898}"/>
              </a:ext>
            </a:extLst>
          </p:cNvPr>
          <p:cNvSpPr txBox="1"/>
          <p:nvPr/>
        </p:nvSpPr>
        <p:spPr>
          <a:xfrm>
            <a:off x="2207442" y="4248150"/>
            <a:ext cx="7777114" cy="1754326"/>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dirty="0"/>
              <a:t>Welcome discounts can be encouraged, or </a:t>
            </a:r>
            <a:r>
              <a:rPr lang="en-IN" u="sng" dirty="0"/>
              <a:t>First Order offers </a:t>
            </a:r>
            <a:r>
              <a:rPr lang="en-IN" dirty="0"/>
              <a:t>are also recommended.</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Cross sell offers were when they purchase mobiles , accessories can be given with discount or for free for the first time. Also since their most participated category is “Mobiles and Electronics”.</a:t>
            </a:r>
          </a:p>
        </p:txBody>
      </p:sp>
    </p:spTree>
    <p:extLst>
      <p:ext uri="{BB962C8B-B14F-4D97-AF65-F5344CB8AC3E}">
        <p14:creationId xmlns:p14="http://schemas.microsoft.com/office/powerpoint/2010/main" val="1838466034"/>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F248D5-5ADC-CBE2-C994-83742C3DCCB0}"/>
              </a:ext>
            </a:extLst>
          </p:cNvPr>
          <p:cNvSpPr txBox="1"/>
          <p:nvPr/>
        </p:nvSpPr>
        <p:spPr>
          <a:xfrm>
            <a:off x="2198016" y="1121062"/>
            <a:ext cx="7795967" cy="2031325"/>
          </a:xfrm>
          <a:prstGeom prst="rect">
            <a:avLst/>
          </a:prstGeom>
          <a:noFill/>
        </p:spPr>
        <p:txBody>
          <a:bodyPr wrap="square" rtlCol="0">
            <a:spAutoFit/>
          </a:bodyPr>
          <a:lstStyle/>
          <a:p>
            <a:endParaRPr lang="en-IN" dirty="0"/>
          </a:p>
          <a:p>
            <a:r>
              <a:rPr lang="en-IN" dirty="0"/>
              <a:t>Analysis</a:t>
            </a:r>
          </a:p>
          <a:p>
            <a:pPr marL="285750" indent="-285750">
              <a:buFont typeface="Arial" panose="020B0604020202020204" pitchFamily="34" charset="0"/>
              <a:buChar char="•"/>
            </a:pPr>
            <a:r>
              <a:rPr lang="en-IN" dirty="0"/>
              <a:t>They contribute around 18.5 % of our total revenue. Referring to the campaign heatmap, they have a very high response to the “loyalty Points Bonus” (56%) open rate.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These customers are generally consistent throughout. Using “gamification” to keep them engaged since they already have a general trust in the brand.</a:t>
            </a:r>
          </a:p>
        </p:txBody>
      </p:sp>
      <p:sp>
        <p:nvSpPr>
          <p:cNvPr id="4" name="TextBox 3">
            <a:extLst>
              <a:ext uri="{FF2B5EF4-FFF2-40B4-BE49-F238E27FC236}">
                <a16:creationId xmlns:a16="http://schemas.microsoft.com/office/drawing/2014/main" id="{41ADC6A8-46B8-E559-56FD-102D387028F0}"/>
              </a:ext>
            </a:extLst>
          </p:cNvPr>
          <p:cNvSpPr txBox="1"/>
          <p:nvPr/>
        </p:nvSpPr>
        <p:spPr>
          <a:xfrm>
            <a:off x="988340" y="828675"/>
            <a:ext cx="2419351" cy="584775"/>
          </a:xfrm>
          <a:prstGeom prst="rect">
            <a:avLst/>
          </a:prstGeom>
          <a:noFill/>
        </p:spPr>
        <p:txBody>
          <a:bodyPr wrap="square" rtlCol="0">
            <a:spAutoFit/>
          </a:bodyPr>
          <a:lstStyle/>
          <a:p>
            <a:r>
              <a:rPr lang="en-IN" sz="3200" dirty="0"/>
              <a:t>Loyal customers</a:t>
            </a:r>
          </a:p>
        </p:txBody>
      </p:sp>
      <p:sp>
        <p:nvSpPr>
          <p:cNvPr id="5" name="TextBox 4">
            <a:extLst>
              <a:ext uri="{FF2B5EF4-FFF2-40B4-BE49-F238E27FC236}">
                <a16:creationId xmlns:a16="http://schemas.microsoft.com/office/drawing/2014/main" id="{BAA399A3-BD82-2663-4EDE-EFF5E0BC5633}"/>
              </a:ext>
            </a:extLst>
          </p:cNvPr>
          <p:cNvSpPr txBox="1"/>
          <p:nvPr/>
        </p:nvSpPr>
        <p:spPr>
          <a:xfrm>
            <a:off x="2198016" y="4086225"/>
            <a:ext cx="7795967" cy="1754326"/>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dirty="0"/>
              <a:t>Since they would ultimately possess points, we can make a campaign where they could shop and double those points – </a:t>
            </a:r>
            <a:r>
              <a:rPr lang="en-IN" u="sng" dirty="0"/>
              <a:t>point multiplier system campaign</a:t>
            </a:r>
            <a:r>
              <a:rPr lang="en-IN" dirty="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When they also have large loyalty points it means that they can be attracted towards </a:t>
            </a:r>
            <a:r>
              <a:rPr lang="en-IN" u="sng" dirty="0"/>
              <a:t>refer a friend campaigns </a:t>
            </a:r>
            <a:r>
              <a:rPr lang="en-IN" dirty="0"/>
              <a:t>as well.</a:t>
            </a:r>
          </a:p>
        </p:txBody>
      </p:sp>
    </p:spTree>
    <p:extLst>
      <p:ext uri="{BB962C8B-B14F-4D97-AF65-F5344CB8AC3E}">
        <p14:creationId xmlns:p14="http://schemas.microsoft.com/office/powerpoint/2010/main" val="3536270204"/>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83A848-77DE-EECA-4105-4AA530116243}"/>
              </a:ext>
            </a:extLst>
          </p:cNvPr>
          <p:cNvPicPr>
            <a:picLocks noChangeAspect="1"/>
          </p:cNvPicPr>
          <p:nvPr/>
        </p:nvPicPr>
        <p:blipFill>
          <a:blip r:embed="rId2"/>
          <a:stretch>
            <a:fillRect/>
          </a:stretch>
        </p:blipFill>
        <p:spPr>
          <a:xfrm>
            <a:off x="175386" y="2242972"/>
            <a:ext cx="11841227" cy="2372056"/>
          </a:xfrm>
          <a:prstGeom prst="rect">
            <a:avLst/>
          </a:prstGeom>
          <a:effectLst>
            <a:softEdge rad="31750"/>
          </a:effectLst>
        </p:spPr>
      </p:pic>
      <p:sp>
        <p:nvSpPr>
          <p:cNvPr id="4" name="TextBox 3">
            <a:extLst>
              <a:ext uri="{FF2B5EF4-FFF2-40B4-BE49-F238E27FC236}">
                <a16:creationId xmlns:a16="http://schemas.microsoft.com/office/drawing/2014/main" id="{DED0D10D-9B72-2762-0874-1D913A5E52CD}"/>
              </a:ext>
            </a:extLst>
          </p:cNvPr>
          <p:cNvSpPr txBox="1"/>
          <p:nvPr/>
        </p:nvSpPr>
        <p:spPr>
          <a:xfrm>
            <a:off x="3514724" y="962025"/>
            <a:ext cx="5162550" cy="584775"/>
          </a:xfrm>
          <a:prstGeom prst="rect">
            <a:avLst/>
          </a:prstGeom>
          <a:noFill/>
        </p:spPr>
        <p:txBody>
          <a:bodyPr wrap="square" rtlCol="0">
            <a:spAutoFit/>
          </a:bodyPr>
          <a:lstStyle/>
          <a:p>
            <a:r>
              <a:rPr lang="en-IN" sz="3200" dirty="0"/>
              <a:t>Campaign performance by Segment</a:t>
            </a:r>
          </a:p>
        </p:txBody>
      </p:sp>
    </p:spTree>
    <p:extLst>
      <p:ext uri="{BB962C8B-B14F-4D97-AF65-F5344CB8AC3E}">
        <p14:creationId xmlns:p14="http://schemas.microsoft.com/office/powerpoint/2010/main" val="265165983"/>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960680-E04A-5C16-DC7F-511666E53BF3}"/>
              </a:ext>
            </a:extLst>
          </p:cNvPr>
          <p:cNvSpPr txBox="1"/>
          <p:nvPr/>
        </p:nvSpPr>
        <p:spPr>
          <a:xfrm>
            <a:off x="1773810" y="809625"/>
            <a:ext cx="8644380" cy="3139321"/>
          </a:xfrm>
          <a:prstGeom prst="rect">
            <a:avLst/>
          </a:prstGeom>
          <a:noFill/>
        </p:spPr>
        <p:txBody>
          <a:bodyPr wrap="square" rtlCol="0">
            <a:spAutoFit/>
          </a:bodyPr>
          <a:lstStyle/>
          <a:p>
            <a:endParaRPr lang="en-IN" dirty="0"/>
          </a:p>
          <a:p>
            <a:endParaRPr lang="en-IN" dirty="0"/>
          </a:p>
          <a:p>
            <a:r>
              <a:rPr lang="en-IN" dirty="0"/>
              <a:t>Analysis</a:t>
            </a:r>
          </a:p>
          <a:p>
            <a:pPr marL="285750" indent="-285750">
              <a:buFont typeface="Arial" panose="020B0604020202020204" pitchFamily="34" charset="0"/>
              <a:buChar char="•"/>
            </a:pPr>
            <a:r>
              <a:rPr lang="en-IN" dirty="0"/>
              <a:t>This group has a surprisingly  high open rate of 67% on the re-engagement coupons, but their conversion rate on the campaign is jus 50%.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They do check out their push notifications and emails but still need a better reason to make a purchase.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Checking the notifications mean that they are aware of the brand . Data also shows that they spend sessions in “home &amp; kitchen”  and  “Fashion”.</a:t>
            </a:r>
          </a:p>
          <a:p>
            <a:r>
              <a:rPr lang="en-IN" dirty="0"/>
              <a:t> </a:t>
            </a:r>
          </a:p>
        </p:txBody>
      </p:sp>
      <p:sp>
        <p:nvSpPr>
          <p:cNvPr id="4" name="TextBox 3">
            <a:extLst>
              <a:ext uri="{FF2B5EF4-FFF2-40B4-BE49-F238E27FC236}">
                <a16:creationId xmlns:a16="http://schemas.microsoft.com/office/drawing/2014/main" id="{ECE18426-B722-5AC4-522E-D10E923C3154}"/>
              </a:ext>
            </a:extLst>
          </p:cNvPr>
          <p:cNvSpPr txBox="1"/>
          <p:nvPr/>
        </p:nvSpPr>
        <p:spPr>
          <a:xfrm>
            <a:off x="707010" y="809625"/>
            <a:ext cx="2133600" cy="584775"/>
          </a:xfrm>
          <a:prstGeom prst="rect">
            <a:avLst/>
          </a:prstGeom>
          <a:noFill/>
        </p:spPr>
        <p:txBody>
          <a:bodyPr wrap="square" rtlCol="0">
            <a:spAutoFit/>
          </a:bodyPr>
          <a:lstStyle/>
          <a:p>
            <a:r>
              <a:rPr lang="en-IN" sz="3200" dirty="0"/>
              <a:t>About to sleep</a:t>
            </a:r>
          </a:p>
        </p:txBody>
      </p:sp>
      <p:sp>
        <p:nvSpPr>
          <p:cNvPr id="5" name="TextBox 4">
            <a:extLst>
              <a:ext uri="{FF2B5EF4-FFF2-40B4-BE49-F238E27FC236}">
                <a16:creationId xmlns:a16="http://schemas.microsoft.com/office/drawing/2014/main" id="{43F77CEC-7879-AC98-3832-264BBBC9DD9A}"/>
              </a:ext>
            </a:extLst>
          </p:cNvPr>
          <p:cNvSpPr txBox="1"/>
          <p:nvPr/>
        </p:nvSpPr>
        <p:spPr>
          <a:xfrm>
            <a:off x="1773810" y="4391025"/>
            <a:ext cx="8644380" cy="1200329"/>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u="sng" dirty="0"/>
              <a:t>Flash sale </a:t>
            </a:r>
            <a:r>
              <a:rPr lang="en-IN" dirty="0"/>
              <a:t>notification may attract them to make purchases.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Such limited period deals may convince them to convert</a:t>
            </a:r>
          </a:p>
        </p:txBody>
      </p:sp>
    </p:spTree>
    <p:extLst>
      <p:ext uri="{BB962C8B-B14F-4D97-AF65-F5344CB8AC3E}">
        <p14:creationId xmlns:p14="http://schemas.microsoft.com/office/powerpoint/2010/main" val="1303002697"/>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FBC17E-CFB8-7FE8-2400-77451458B8E4}"/>
              </a:ext>
            </a:extLst>
          </p:cNvPr>
          <p:cNvSpPr txBox="1"/>
          <p:nvPr/>
        </p:nvSpPr>
        <p:spPr>
          <a:xfrm>
            <a:off x="2127314" y="790575"/>
            <a:ext cx="7937369" cy="2585323"/>
          </a:xfrm>
          <a:prstGeom prst="rect">
            <a:avLst/>
          </a:prstGeom>
          <a:noFill/>
        </p:spPr>
        <p:txBody>
          <a:bodyPr wrap="square" rtlCol="0">
            <a:spAutoFit/>
          </a:bodyPr>
          <a:lstStyle/>
          <a:p>
            <a:endParaRPr lang="en-IN" dirty="0"/>
          </a:p>
          <a:p>
            <a:endParaRPr lang="en-IN" dirty="0"/>
          </a:p>
          <a:p>
            <a:r>
              <a:rPr lang="en-IN" dirty="0"/>
              <a:t>Analysis</a:t>
            </a:r>
          </a:p>
          <a:p>
            <a:pPr marL="285750" indent="-285750">
              <a:buFont typeface="Arial" panose="020B0604020202020204" pitchFamily="34" charset="0"/>
              <a:buChar char="•"/>
            </a:pPr>
            <a:r>
              <a:rPr lang="en-IN" dirty="0"/>
              <a:t>This is the smallest revenue contributor out of all the segments and has the lowest engagement rate throughout.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But still they too showed 67% conversion rate on the “big billion days” season.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They could be attracted during major events like “big billion days”. It could pull them back in.</a:t>
            </a:r>
          </a:p>
        </p:txBody>
      </p:sp>
      <p:sp>
        <p:nvSpPr>
          <p:cNvPr id="3" name="TextBox 2">
            <a:extLst>
              <a:ext uri="{FF2B5EF4-FFF2-40B4-BE49-F238E27FC236}">
                <a16:creationId xmlns:a16="http://schemas.microsoft.com/office/drawing/2014/main" id="{6B39958D-C7D6-9A51-57EB-38D48C6FA693}"/>
              </a:ext>
            </a:extLst>
          </p:cNvPr>
          <p:cNvSpPr txBox="1"/>
          <p:nvPr/>
        </p:nvSpPr>
        <p:spPr>
          <a:xfrm>
            <a:off x="1008127" y="790575"/>
            <a:ext cx="2238375" cy="584775"/>
          </a:xfrm>
          <a:prstGeom prst="rect">
            <a:avLst/>
          </a:prstGeom>
          <a:noFill/>
        </p:spPr>
        <p:txBody>
          <a:bodyPr wrap="square" rtlCol="0">
            <a:spAutoFit/>
          </a:bodyPr>
          <a:lstStyle/>
          <a:p>
            <a:r>
              <a:rPr lang="en-IN" sz="3200" dirty="0"/>
              <a:t>Lost customers</a:t>
            </a:r>
          </a:p>
        </p:txBody>
      </p:sp>
      <p:sp>
        <p:nvSpPr>
          <p:cNvPr id="4" name="TextBox 3">
            <a:extLst>
              <a:ext uri="{FF2B5EF4-FFF2-40B4-BE49-F238E27FC236}">
                <a16:creationId xmlns:a16="http://schemas.microsoft.com/office/drawing/2014/main" id="{B3B13172-0515-AFBC-7210-F8936FD6E746}"/>
              </a:ext>
            </a:extLst>
          </p:cNvPr>
          <p:cNvSpPr txBox="1"/>
          <p:nvPr/>
        </p:nvSpPr>
        <p:spPr>
          <a:xfrm>
            <a:off x="2136839" y="4286250"/>
            <a:ext cx="7937369" cy="1200329"/>
          </a:xfrm>
          <a:prstGeom prst="rect">
            <a:avLst/>
          </a:prstGeom>
          <a:noFill/>
        </p:spPr>
        <p:txBody>
          <a:bodyPr wrap="square" rtlCol="0">
            <a:spAutoFit/>
          </a:bodyPr>
          <a:lstStyle/>
          <a:p>
            <a:r>
              <a:rPr lang="en-IN" dirty="0"/>
              <a:t>Recommendations</a:t>
            </a:r>
          </a:p>
          <a:p>
            <a:pPr marL="285750" indent="-285750">
              <a:buFont typeface="Arial" panose="020B0604020202020204" pitchFamily="34" charset="0"/>
              <a:buChar char="•"/>
            </a:pPr>
            <a:r>
              <a:rPr lang="en-IN" dirty="0"/>
              <a:t>They can be targeted via a umbrella while </a:t>
            </a:r>
            <a:r>
              <a:rPr lang="en-IN" u="sng" dirty="0"/>
              <a:t>big festive sales </a:t>
            </a:r>
            <a:r>
              <a:rPr lang="en-IN" dirty="0"/>
              <a:t>are coming up.</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u="sng" dirty="0"/>
              <a:t>Welcome-Back offers </a:t>
            </a:r>
            <a:r>
              <a:rPr lang="en-IN" dirty="0"/>
              <a:t>may also prove to be significant.</a:t>
            </a:r>
          </a:p>
        </p:txBody>
      </p:sp>
    </p:spTree>
    <p:extLst>
      <p:ext uri="{BB962C8B-B14F-4D97-AF65-F5344CB8AC3E}">
        <p14:creationId xmlns:p14="http://schemas.microsoft.com/office/powerpoint/2010/main" val="4108683700"/>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1841E7-4DD3-5A28-AA29-2C382CDFFB5C}"/>
              </a:ext>
            </a:extLst>
          </p:cNvPr>
          <p:cNvPicPr>
            <a:picLocks noChangeAspect="1"/>
          </p:cNvPicPr>
          <p:nvPr/>
        </p:nvPicPr>
        <p:blipFill>
          <a:blip r:embed="rId2"/>
          <a:stretch>
            <a:fillRect/>
          </a:stretch>
        </p:blipFill>
        <p:spPr>
          <a:xfrm>
            <a:off x="570271" y="2026591"/>
            <a:ext cx="11051458" cy="2150284"/>
          </a:xfrm>
          <a:prstGeom prst="rect">
            <a:avLst/>
          </a:prstGeom>
        </p:spPr>
      </p:pic>
      <p:sp>
        <p:nvSpPr>
          <p:cNvPr id="4" name="TextBox 3">
            <a:extLst>
              <a:ext uri="{FF2B5EF4-FFF2-40B4-BE49-F238E27FC236}">
                <a16:creationId xmlns:a16="http://schemas.microsoft.com/office/drawing/2014/main" id="{E9346390-19E0-BD7F-FB4C-CD877741CD5D}"/>
              </a:ext>
            </a:extLst>
          </p:cNvPr>
          <p:cNvSpPr txBox="1"/>
          <p:nvPr/>
        </p:nvSpPr>
        <p:spPr>
          <a:xfrm>
            <a:off x="3805237" y="666750"/>
            <a:ext cx="4581525" cy="584775"/>
          </a:xfrm>
          <a:prstGeom prst="rect">
            <a:avLst/>
          </a:prstGeom>
          <a:noFill/>
        </p:spPr>
        <p:txBody>
          <a:bodyPr wrap="square" rtlCol="0">
            <a:spAutoFit/>
          </a:bodyPr>
          <a:lstStyle/>
          <a:p>
            <a:r>
              <a:rPr lang="en-IN" sz="3200" dirty="0"/>
              <a:t>Payment method split by Tier</a:t>
            </a:r>
          </a:p>
        </p:txBody>
      </p:sp>
    </p:spTree>
    <p:extLst>
      <p:ext uri="{BB962C8B-B14F-4D97-AF65-F5344CB8AC3E}">
        <p14:creationId xmlns:p14="http://schemas.microsoft.com/office/powerpoint/2010/main" val="2168360090"/>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1C4CF9-104C-0297-B1F1-18E425B0F733}"/>
              </a:ext>
            </a:extLst>
          </p:cNvPr>
          <p:cNvSpPr txBox="1"/>
          <p:nvPr/>
        </p:nvSpPr>
        <p:spPr>
          <a:xfrm>
            <a:off x="1762125" y="1371600"/>
            <a:ext cx="8429625" cy="3416320"/>
          </a:xfrm>
          <a:prstGeom prst="rect">
            <a:avLst/>
          </a:prstGeom>
          <a:noFill/>
        </p:spPr>
        <p:txBody>
          <a:bodyPr wrap="square" rtlCol="0">
            <a:spAutoFit/>
          </a:bodyPr>
          <a:lstStyle/>
          <a:p>
            <a:r>
              <a:rPr lang="en-IN" dirty="0"/>
              <a:t>Recommendations – General</a:t>
            </a:r>
          </a:p>
          <a:p>
            <a:pPr marL="285750" indent="-285750">
              <a:buFont typeface="Arial" panose="020B0604020202020204" pitchFamily="34" charset="0"/>
              <a:buChar char="•"/>
            </a:pPr>
            <a:r>
              <a:rPr lang="en-IN" dirty="0"/>
              <a:t>As per the payment method trends tier 3 cities rely largely on COD. So marketing campaigns could highlight the Presence of COD for those places as a important feature.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Revenue hits peak at January and October, so marketing should look to attract maximum transactions during these seasons.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category of “Books and education” is to be focused more as it has the lead in volume mainly via potential loyalists. Since potential loyalists are the largest in number this puts it as a priority.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The revenue heats an all time low during February and September. Those gaps should also be bridged with the help of marketing campaigns.</a:t>
            </a:r>
          </a:p>
        </p:txBody>
      </p:sp>
    </p:spTree>
    <p:extLst>
      <p:ext uri="{BB962C8B-B14F-4D97-AF65-F5344CB8AC3E}">
        <p14:creationId xmlns:p14="http://schemas.microsoft.com/office/powerpoint/2010/main" val="670785078"/>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C1B87D-53A7-6CA8-739F-7D11C6932B86}"/>
              </a:ext>
            </a:extLst>
          </p:cNvPr>
          <p:cNvSpPr txBox="1"/>
          <p:nvPr/>
        </p:nvSpPr>
        <p:spPr>
          <a:xfrm>
            <a:off x="4974210" y="2721114"/>
            <a:ext cx="2243579" cy="707886"/>
          </a:xfrm>
          <a:prstGeom prst="rect">
            <a:avLst/>
          </a:prstGeom>
          <a:noFill/>
        </p:spPr>
        <p:txBody>
          <a:bodyPr wrap="square" rtlCol="0">
            <a:spAutoFit/>
          </a:bodyPr>
          <a:lstStyle/>
          <a:p>
            <a:r>
              <a:rPr lang="en-IN" sz="4000" dirty="0">
                <a:latin typeface="Bahnschrift Light SemiCondensed" panose="020B0502040204020203" pitchFamily="34" charset="0"/>
              </a:rPr>
              <a:t>Thank you</a:t>
            </a:r>
          </a:p>
        </p:txBody>
      </p:sp>
    </p:spTree>
    <p:extLst>
      <p:ext uri="{BB962C8B-B14F-4D97-AF65-F5344CB8AC3E}">
        <p14:creationId xmlns:p14="http://schemas.microsoft.com/office/powerpoint/2010/main" val="288634820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Bahnschrift SemiBold SemiConden"/>
        <a:ea typeface=""/>
        <a:cs typeface=""/>
      </a:majorFont>
      <a:minorFont>
        <a:latin typeface="Bahnschrift SemiLight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TotalTime>
  <Words>935</Words>
  <Application>Microsoft Office PowerPoint</Application>
  <PresentationFormat>Widescreen</PresentationFormat>
  <Paragraphs>113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Bahnschrift Light SemiCondensed</vt:lpstr>
      <vt:lpstr>Bahnschrift SemiBold SemiConden</vt:lpstr>
      <vt:lpstr>Bahnschrift SemiLight 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Raj</dc:creator>
  <cp:lastModifiedBy>Ajay Raj</cp:lastModifiedBy>
  <cp:revision>2</cp:revision>
  <dcterms:created xsi:type="dcterms:W3CDTF">2026-04-16T11:02:35Z</dcterms:created>
  <dcterms:modified xsi:type="dcterms:W3CDTF">2026-04-16T22:30:31Z</dcterms:modified>
</cp:coreProperties>
</file>